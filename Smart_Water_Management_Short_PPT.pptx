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AI-Based Smart Water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6BEAA"/>
                </a:solidFill>
              </a:defRPr>
            </a:pPr>
            <a:r>
              <a:t>Water Demand Prediction + Anomaly Detection + NLP</a:t>
            </a:r>
          </a:p>
          <a:p>
            <a:pPr>
              <a:defRPr sz="1900">
                <a:solidFill>
                  <a:srgbClr val="F5F8FA"/>
                </a:solidFill>
              </a:defRPr>
            </a:pPr>
            <a:r>
              <a:t>Data Science / Machine Learning Project</a:t>
            </a:r>
          </a:p>
        </p:txBody>
      </p:sp>
      <p:sp>
        <p:nvSpPr>
          <p:cNvPr id="5" name="Teardrop 4"/>
          <p:cNvSpPr/>
          <p:nvPr/>
        </p:nvSpPr>
        <p:spPr>
          <a:xfrm>
            <a:off x="4892040" y="3246120"/>
            <a:ext cx="2286000" cy="2560320"/>
          </a:xfrm>
          <a:prstGeom prst="teardrop">
            <a:avLst/>
          </a:prstGeom>
          <a:solidFill>
            <a:srgbClr val="26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FC6CD"/>
                </a:solidFill>
              </a:defRPr>
            </a:pPr>
            <a:r>
              <a:t>Student: Fahad 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1. Problem &amp;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11480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00200"/>
            <a:ext cx="4882896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BEAA"/>
                </a:solidFill>
              </a:defRPr>
            </a:pPr>
            <a:r>
              <a:t>THE PROBLEM</a:t>
            </a:r>
          </a:p>
          <a:p>
            <a:pPr>
              <a:spcBef>
                <a:spcPts val="800"/>
              </a:spcBef>
              <a:defRPr sz="1400">
                <a:solidFill>
                  <a:srgbClr val="F5F8FA"/>
                </a:solidFill>
              </a:defRPr>
            </a:pPr>
            <a:r>
              <a:t>Water demand changes with weather, season and recent usage.</a:t>
            </a:r>
            <a:br/>
            <a:br/>
            <a:r>
              <a:t>Manual estimation and complaint handling can be difficult.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63040"/>
            <a:ext cx="5212080" cy="411480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1" y="1600200"/>
            <a:ext cx="4882896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BEAA"/>
                </a:solidFill>
              </a:defRPr>
            </a:pPr>
            <a:r>
              <a:t>OUR SOLUTION</a:t>
            </a:r>
          </a:p>
          <a:p>
            <a:pPr>
              <a:spcBef>
                <a:spcPts val="800"/>
              </a:spcBef>
              <a:defRPr sz="1400">
                <a:solidFill>
                  <a:srgbClr val="F5F8FA"/>
                </a:solidFill>
              </a:defRPr>
            </a:pPr>
            <a:r>
              <a:t>• Predict water demand</a:t>
            </a:r>
            <a:br/>
            <a:r>
              <a:t>• Detect unusual consumption</a:t>
            </a:r>
            <a:br/>
            <a:r>
              <a:t>• Analyze water complaints</a:t>
            </a:r>
            <a:br/>
            <a:r>
              <a:t>• Support supply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2.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00400" cy="274320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54480"/>
            <a:ext cx="2871216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BEAA"/>
                </a:solidFill>
              </a:defRPr>
            </a:pPr>
            <a:r>
              <a:t>50,000</a:t>
            </a:r>
          </a:p>
          <a:p>
            <a:pPr>
              <a:spcBef>
                <a:spcPts val="800"/>
              </a:spcBef>
              <a:defRPr sz="1400">
                <a:solidFill>
                  <a:srgbClr val="F5F8FA"/>
                </a:solidFill>
              </a:defRPr>
            </a:pPr>
            <a:r>
              <a:t>Water-demand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417320"/>
            <a:ext cx="3200400" cy="274320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16552" y="1554480"/>
            <a:ext cx="2871216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BEAA"/>
                </a:solidFill>
              </a:defRPr>
            </a:pPr>
            <a:r>
              <a:t>20 Areas</a:t>
            </a:r>
          </a:p>
          <a:p>
            <a:pPr>
              <a:spcBef>
                <a:spcPts val="800"/>
              </a:spcBef>
              <a:defRPr sz="1400">
                <a:solidFill>
                  <a:srgbClr val="F5F8FA"/>
                </a:solidFill>
              </a:defRPr>
            </a:pPr>
            <a:r>
              <a:t>Ward_01 – Ward_20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417320"/>
            <a:ext cx="3200400" cy="274320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554480"/>
            <a:ext cx="2871216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BEAA"/>
                </a:solidFill>
              </a:defRPr>
            </a:pPr>
            <a:r>
              <a:t>Target</a:t>
            </a:r>
          </a:p>
          <a:p>
            <a:pPr>
              <a:spcBef>
                <a:spcPts val="800"/>
              </a:spcBef>
              <a:defRPr sz="1400">
                <a:solidFill>
                  <a:srgbClr val="F5F8FA"/>
                </a:solidFill>
              </a:defRPr>
            </a:pPr>
            <a:r>
              <a:t>Water_Consumption_L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617720"/>
            <a:ext cx="1554480" cy="73152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5F8FA"/>
                </a:solidFill>
              </a:defRPr>
            </a:pPr>
            <a:r>
              <a:t>Temperature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617720"/>
            <a:ext cx="1554480" cy="73152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5F8FA"/>
                </a:solidFill>
              </a:defRPr>
            </a:pPr>
            <a:r>
              <a:t>Rainfall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4617720"/>
            <a:ext cx="1554480" cy="73152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5F8FA"/>
                </a:solidFill>
              </a:defRPr>
            </a:pPr>
            <a:r>
              <a:t>Previous Usage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617720"/>
            <a:ext cx="1554480" cy="73152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5F8FA"/>
                </a:solidFill>
              </a:defRPr>
            </a:pPr>
            <a:r>
              <a:t>7/30 Day Avg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4617720"/>
            <a:ext cx="1554480" cy="73152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5F8FA"/>
                </a:solidFill>
              </a:defRPr>
            </a:pPr>
            <a:r>
              <a:t>Water Supply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3. ML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240280"/>
            <a:ext cx="1828800" cy="150876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BEAA"/>
                </a:solidFill>
              </a:defRPr>
            </a:pPr>
            <a:r>
              <a:t>DATA</a:t>
            </a:r>
          </a:p>
          <a:p>
            <a:pPr algn="ctr">
              <a:defRPr sz="1300">
                <a:solidFill>
                  <a:srgbClr val="F5F8FA"/>
                </a:solidFill>
              </a:defRPr>
            </a:pPr>
            <a:r>
              <a:t>Dataset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23160" y="2971800"/>
            <a:ext cx="457200" cy="0"/>
          </a:xfrm>
          <a:prstGeom prst="line">
            <a:avLst/>
          </a:prstGeom>
          <a:ln>
            <a:solidFill>
              <a:srgbClr val="26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80360" y="2240280"/>
            <a:ext cx="1828800" cy="150876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BEAA"/>
                </a:solidFill>
              </a:defRPr>
            </a:pPr>
            <a:r>
              <a:t>CLEAN</a:t>
            </a:r>
          </a:p>
          <a:p>
            <a:pPr algn="ctr">
              <a:defRPr sz="1300">
                <a:solidFill>
                  <a:srgbClr val="F5F8FA"/>
                </a:solidFill>
              </a:defRPr>
            </a:pPr>
            <a:r>
              <a:t>Preprocess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09160" y="2971800"/>
            <a:ext cx="457200" cy="0"/>
          </a:xfrm>
          <a:prstGeom prst="line">
            <a:avLst/>
          </a:prstGeom>
          <a:ln>
            <a:solidFill>
              <a:srgbClr val="26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66360" y="2240280"/>
            <a:ext cx="1828800" cy="150876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BEAA"/>
                </a:solidFill>
              </a:defRPr>
            </a:pPr>
            <a:r>
              <a:t>MODEL</a:t>
            </a:r>
          </a:p>
          <a:p>
            <a:pPr algn="ctr">
              <a:defRPr sz="1300">
                <a:solidFill>
                  <a:srgbClr val="F5F8FA"/>
                </a:solidFill>
              </a:defRPr>
            </a:pPr>
            <a:r>
              <a:t>XGBoost / RF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95160" y="2971800"/>
            <a:ext cx="457200" cy="0"/>
          </a:xfrm>
          <a:prstGeom prst="line">
            <a:avLst/>
          </a:prstGeom>
          <a:ln>
            <a:solidFill>
              <a:srgbClr val="26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52360" y="2240280"/>
            <a:ext cx="1828800" cy="150876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BEAA"/>
                </a:solidFill>
              </a:defRPr>
            </a:pPr>
            <a:r>
              <a:t>PREDICT</a:t>
            </a:r>
          </a:p>
          <a:p>
            <a:pPr algn="ctr">
              <a:defRPr sz="1300">
                <a:solidFill>
                  <a:srgbClr val="F5F8FA"/>
                </a:solidFill>
              </a:defRPr>
            </a:pPr>
            <a:r>
              <a:t>Demand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81160" y="2971800"/>
            <a:ext cx="457200" cy="0"/>
          </a:xfrm>
          <a:prstGeom prst="line">
            <a:avLst/>
          </a:prstGeom>
          <a:ln>
            <a:solidFill>
              <a:srgbClr val="26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38360" y="2240280"/>
            <a:ext cx="1828800" cy="150876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BEAA"/>
                </a:solidFill>
              </a:defRPr>
            </a:pPr>
            <a:r>
              <a:t>RISK</a:t>
            </a:r>
          </a:p>
          <a:p>
            <a:pPr algn="ctr">
              <a:defRPr sz="1300">
                <a:solidFill>
                  <a:srgbClr val="F5F8FA"/>
                </a:solidFill>
              </a:defRPr>
            </a:pPr>
            <a:r>
              <a:t>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7091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5F8FA"/>
                </a:solidFill>
              </a:defRPr>
            </a:pPr>
            <a:r>
              <a:t>Models: Random Forest Regressor + XGBoost Regressor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4. Water Demand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303520" cy="420624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600200"/>
            <a:ext cx="4974336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BEAA"/>
                </a:solidFill>
              </a:defRPr>
            </a:pPr>
            <a:r>
              <a:t>INPUT</a:t>
            </a:r>
          </a:p>
          <a:p>
            <a:pPr>
              <a:spcBef>
                <a:spcPts val="800"/>
              </a:spcBef>
              <a:defRPr sz="1400">
                <a:solidFill>
                  <a:srgbClr val="F5F8FA"/>
                </a:solidFill>
              </a:defRPr>
            </a:pPr>
            <a:r>
              <a:t>Area</a:t>
            </a:r>
            <a:br/>
            <a:r>
              <a:t>Connections</a:t>
            </a:r>
            <a:br/>
            <a:r>
              <a:t>Temperature &amp; Rainfall</a:t>
            </a:r>
            <a:br/>
            <a:r>
              <a:t>Previous consumption</a:t>
            </a:r>
            <a:br/>
            <a:r>
              <a:t>7/30 day averages</a:t>
            </a:r>
            <a:br/>
            <a:r>
              <a:t>Available supply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63040"/>
            <a:ext cx="5212080" cy="420624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1" y="1600200"/>
            <a:ext cx="4882896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BEAA"/>
                </a:solidFill>
              </a:defRPr>
            </a:pPr>
            <a:r>
              <a:t>OUTPUT</a:t>
            </a:r>
          </a:p>
          <a:p>
            <a:pPr>
              <a:spcBef>
                <a:spcPts val="800"/>
              </a:spcBef>
              <a:defRPr sz="1400">
                <a:solidFill>
                  <a:srgbClr val="F5F8FA"/>
                </a:solidFill>
              </a:defRPr>
            </a:pPr>
            <a:r>
              <a:t>Predicted Consumption</a:t>
            </a:r>
            <a:br/>
            <a:br/>
            <a:r>
              <a:t>Demand Ratio</a:t>
            </a:r>
            <a:br/>
            <a:br/>
            <a:r>
              <a:t>Risk: LOW / MEDIUM / HIGH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89320" y="3566160"/>
            <a:ext cx="246888" cy="0"/>
          </a:xfrm>
          <a:prstGeom prst="line">
            <a:avLst/>
          </a:prstGeom>
          <a:ln>
            <a:solidFill>
              <a:srgbClr val="26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5. Demand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356616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00200"/>
            <a:ext cx="3054096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BEAA"/>
                </a:solidFill>
              </a:defRPr>
            </a:pPr>
            <a:r>
              <a:t>LOW</a:t>
            </a:r>
          </a:p>
          <a:p>
            <a:pPr>
              <a:spcBef>
                <a:spcPts val="800"/>
              </a:spcBef>
              <a:defRPr sz="1400">
                <a:solidFill>
                  <a:srgbClr val="F5F8FA"/>
                </a:solidFill>
              </a:defRPr>
            </a:pPr>
            <a:r>
              <a:t>Ratio &lt; 95%</a:t>
            </a:r>
            <a:br/>
            <a:br/>
            <a:r>
              <a:t>Supply is above predicted demand.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356616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00200"/>
            <a:ext cx="3054096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BEAA"/>
                </a:solidFill>
              </a:defRPr>
            </a:pPr>
            <a:r>
              <a:t>MEDIUM</a:t>
            </a:r>
          </a:p>
          <a:p>
            <a:pPr>
              <a:spcBef>
                <a:spcPts val="800"/>
              </a:spcBef>
              <a:defRPr sz="1400">
                <a:solidFill>
                  <a:srgbClr val="F5F8FA"/>
                </a:solidFill>
              </a:defRPr>
            </a:pPr>
            <a:r>
              <a:t>95% – 114.99%</a:t>
            </a:r>
            <a:br/>
            <a:br/>
            <a:r>
              <a:t>Demand is close to available supply.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356616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600200"/>
            <a:ext cx="3054096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BEAA"/>
                </a:solidFill>
              </a:defRPr>
            </a:pPr>
            <a:r>
              <a:t>HIGH</a:t>
            </a:r>
          </a:p>
          <a:p>
            <a:pPr>
              <a:spcBef>
                <a:spcPts val="800"/>
              </a:spcBef>
              <a:defRPr sz="1400">
                <a:solidFill>
                  <a:srgbClr val="F5F8FA"/>
                </a:solidFill>
              </a:defRPr>
            </a:pPr>
            <a:r>
              <a:t>≥ 115%</a:t>
            </a:r>
            <a:br/>
            <a:br/>
            <a:r>
              <a:t>Predicted demand exceeds available supply significantly.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34924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6BEAA"/>
                </a:solidFill>
              </a:defRPr>
            </a:pPr>
            <a:r>
              <a:t>Demand Ratio = Predicted Consumption ÷ Available Supply ×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6. Abnormal Consumption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657600" cy="347472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91639"/>
            <a:ext cx="3328416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BEAA"/>
                </a:solidFill>
              </a:defRPr>
            </a:pPr>
            <a:r>
              <a:t>ISOLATION FOREST</a:t>
            </a:r>
          </a:p>
          <a:p>
            <a:pPr>
              <a:spcBef>
                <a:spcPts val="800"/>
              </a:spcBef>
              <a:defRPr sz="1400">
                <a:solidFill>
                  <a:srgbClr val="F5F8FA"/>
                </a:solidFill>
              </a:defRPr>
            </a:pPr>
            <a:r>
              <a:t>Checks whether consumption patterns are unusual.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2926080" cy="347472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36592" y="1691639"/>
            <a:ext cx="2596896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BEAA"/>
                </a:solidFill>
              </a:defRPr>
            </a:pPr>
            <a:r>
              <a:t>NORMAL</a:t>
            </a:r>
          </a:p>
          <a:p>
            <a:pPr>
              <a:spcBef>
                <a:spcPts val="800"/>
              </a:spcBef>
              <a:defRPr sz="1400">
                <a:solidFill>
                  <a:srgbClr val="F5F8FA"/>
                </a:solidFill>
              </a:defRPr>
            </a:pPr>
            <a:r>
              <a:t>Pattern is within the learned range.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554480"/>
            <a:ext cx="3383280" cy="347472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91271" y="1691639"/>
            <a:ext cx="3054096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BEAA"/>
                </a:solidFill>
              </a:defRPr>
            </a:pPr>
            <a:r>
              <a:t>ABNORMAL</a:t>
            </a:r>
          </a:p>
          <a:p>
            <a:pPr>
              <a:spcBef>
                <a:spcPts val="800"/>
              </a:spcBef>
              <a:defRPr sz="1400">
                <a:solidFill>
                  <a:srgbClr val="F5F8FA"/>
                </a:solidFill>
              </a:defRPr>
            </a:pPr>
            <a:r>
              <a:t>Unusual pattern → investigate further.</a:t>
            </a:r>
            <a:br/>
            <a:br/>
            <a:r>
              <a:t>Note: abnormal ≠ confirmed leak.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7. NLP Complaint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03120"/>
            <a:ext cx="2331720" cy="182880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6BEAA"/>
                </a:solidFill>
              </a:defRPr>
            </a:pPr>
            <a:r>
              <a:t>COMPLAINT</a:t>
            </a:r>
          </a:p>
          <a:p>
            <a:pPr algn="ctr">
              <a:defRPr sz="1300">
                <a:solidFill>
                  <a:srgbClr val="F5F8FA"/>
                </a:solidFill>
              </a:defRPr>
            </a:pPr>
            <a:r>
              <a:t>“Pipeline is leaking”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39" y="3017520"/>
            <a:ext cx="548641" cy="0"/>
          </a:xfrm>
          <a:prstGeom prst="line">
            <a:avLst/>
          </a:prstGeom>
          <a:ln>
            <a:solidFill>
              <a:srgbClr val="26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83280" y="2103120"/>
            <a:ext cx="2331720" cy="182880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6BEAA"/>
                </a:solidFill>
              </a:defRPr>
            </a:pPr>
            <a:r>
              <a:t>TF-IDF</a:t>
            </a:r>
          </a:p>
          <a:p>
            <a:pPr algn="ctr">
              <a:defRPr sz="1300">
                <a:solidFill>
                  <a:srgbClr val="F5F8FA"/>
                </a:solidFill>
              </a:defRPr>
            </a:pPr>
            <a:r>
              <a:t>Text → Numbers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0" y="3017520"/>
            <a:ext cx="548640" cy="0"/>
          </a:xfrm>
          <a:prstGeom prst="line">
            <a:avLst/>
          </a:prstGeom>
          <a:ln>
            <a:solidFill>
              <a:srgbClr val="26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63640" y="2103120"/>
            <a:ext cx="2331720" cy="182880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6BEAA"/>
                </a:solidFill>
              </a:defRPr>
            </a:pPr>
            <a:r>
              <a:t>LOGISTIC</a:t>
            </a:r>
          </a:p>
          <a:p>
            <a:pPr algn="ctr">
              <a:defRPr sz="1300">
                <a:solidFill>
                  <a:srgbClr val="F5F8FA"/>
                </a:solidFill>
              </a:defRPr>
            </a:pPr>
            <a:r>
              <a:t>Classification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95359" y="3017520"/>
            <a:ext cx="548641" cy="0"/>
          </a:xfrm>
          <a:prstGeom prst="line">
            <a:avLst/>
          </a:prstGeom>
          <a:ln>
            <a:solidFill>
              <a:srgbClr val="26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0" y="2103120"/>
            <a:ext cx="2331720" cy="182880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6BEAA"/>
                </a:solidFill>
              </a:defRPr>
            </a:pPr>
            <a:r>
              <a:t>OUTPUT</a:t>
            </a:r>
          </a:p>
          <a:p>
            <a:pPr algn="ctr">
              <a:defRPr sz="1300">
                <a:solidFill>
                  <a:srgbClr val="F5F8FA"/>
                </a:solidFill>
              </a:defRPr>
            </a:pPr>
            <a:r>
              <a:t>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5F8FA"/>
                </a:solidFill>
              </a:defRPr>
            </a:pPr>
            <a:r>
              <a:t>Categories: Leakage • Low Supply • High Consumption • Water Quality • Meter Problem • Other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8. Complete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83280" cy="420624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54480"/>
            <a:ext cx="3054096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BEAA"/>
                </a:solidFill>
              </a:defRPr>
            </a:pPr>
            <a:r>
              <a:t>WATER MODULE</a:t>
            </a:r>
          </a:p>
          <a:p>
            <a:pPr>
              <a:spcBef>
                <a:spcPts val="800"/>
              </a:spcBef>
              <a:defRPr sz="1400">
                <a:solidFill>
                  <a:srgbClr val="F5F8FA"/>
                </a:solidFill>
              </a:defRPr>
            </a:pPr>
            <a:r>
              <a:t>User Input</a:t>
            </a:r>
            <a:br/>
            <a:r>
              <a:t>↓</a:t>
            </a:r>
            <a:br/>
            <a:r>
              <a:t>ML Prediction</a:t>
            </a:r>
            <a:br/>
            <a:r>
              <a:t>↓</a:t>
            </a:r>
            <a:br/>
            <a:r>
              <a:t>Demand Ratio</a:t>
            </a:r>
            <a:br/>
            <a:r>
              <a:t>↓</a:t>
            </a:r>
            <a:br/>
            <a:r>
              <a:t>Risk + Anomaly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383280" cy="420624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554480"/>
            <a:ext cx="3054096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BEAA"/>
                </a:solidFill>
              </a:defRPr>
            </a:pPr>
            <a:r>
              <a:t>NLP MODULE</a:t>
            </a:r>
          </a:p>
          <a:p>
            <a:pPr>
              <a:spcBef>
                <a:spcPts val="800"/>
              </a:spcBef>
              <a:defRPr sz="1400">
                <a:solidFill>
                  <a:srgbClr val="F5F8FA"/>
                </a:solidFill>
              </a:defRPr>
            </a:pPr>
            <a:r>
              <a:t>Complaint</a:t>
            </a:r>
            <a:br/>
            <a:r>
              <a:t>↓</a:t>
            </a:r>
            <a:br/>
            <a:r>
              <a:t>Text Cleaning</a:t>
            </a:r>
            <a:br/>
            <a:r>
              <a:t>↓</a:t>
            </a:r>
            <a:br/>
            <a:r>
              <a:t>TF-IDF</a:t>
            </a:r>
            <a:br/>
            <a:r>
              <a:t>↓</a:t>
            </a:r>
            <a:br/>
            <a:r>
              <a:t>Complaint Category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383280" cy="420624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1" y="1554480"/>
            <a:ext cx="3054096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BEAA"/>
                </a:solidFill>
              </a:defRPr>
            </a:pPr>
            <a:r>
              <a:t>INTERFACE</a:t>
            </a:r>
          </a:p>
          <a:p>
            <a:pPr>
              <a:spcBef>
                <a:spcPts val="800"/>
              </a:spcBef>
              <a:defRPr sz="1400">
                <a:solidFill>
                  <a:srgbClr val="F5F8FA"/>
                </a:solidFill>
              </a:defRPr>
            </a:pPr>
            <a:r>
              <a:t>Gradio Dashboard</a:t>
            </a:r>
            <a:br/>
            <a:br/>
            <a:r>
              <a:t>Simple inputs</a:t>
            </a:r>
            <a:br/>
            <a:r>
              <a:t>Clear outputs</a:t>
            </a:r>
            <a:br/>
            <a:r>
              <a:t>Interactive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9. 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420624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54480"/>
            <a:ext cx="4882896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BEAA"/>
                </a:solidFill>
              </a:defRPr>
            </a:pPr>
            <a:r>
              <a:t>CONCLUSION</a:t>
            </a:r>
          </a:p>
          <a:p>
            <a:pPr>
              <a:spcBef>
                <a:spcPts val="800"/>
              </a:spcBef>
              <a:defRPr sz="1400">
                <a:solidFill>
                  <a:srgbClr val="F5F8FA"/>
                </a:solidFill>
              </a:defRPr>
            </a:pPr>
            <a:r>
              <a:t>The system combines ML, anomaly detection and NLP to support smart water management.</a:t>
            </a:r>
            <a:br/>
            <a:br/>
            <a:r>
              <a:t>It predicts demand, identifies unusual patterns and categorizes complaints.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212080" cy="4206240"/>
          </a:xfrm>
          <a:prstGeom prst="roundRect">
            <a:avLst/>
          </a:prstGeom>
          <a:solidFill>
            <a:srgbClr val="122B37"/>
          </a:solidFill>
          <a:ln>
            <a:solidFill>
              <a:srgbClr val="26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1" y="1554480"/>
            <a:ext cx="4882896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BEAA"/>
                </a:solidFill>
              </a:defRPr>
            </a:pPr>
            <a:r>
              <a:t>FUTURE</a:t>
            </a:r>
          </a:p>
          <a:p>
            <a:pPr>
              <a:spcBef>
                <a:spcPts val="800"/>
              </a:spcBef>
              <a:defRPr sz="1400">
                <a:solidFill>
                  <a:srgbClr val="F5F8FA"/>
                </a:solidFill>
              </a:defRPr>
            </a:pPr>
            <a:r>
              <a:t>IoT water meters</a:t>
            </a:r>
            <a:br/>
            <a:r>
              <a:t>Live weather data</a:t>
            </a:r>
            <a:br/>
            <a:r>
              <a:t>LSTM / Transformers</a:t>
            </a:r>
            <a:br/>
            <a:r>
              <a:t>GIS maps</a:t>
            </a:r>
            <a:br/>
            <a:r>
              <a:t>Automatic alerts</a:t>
            </a:r>
            <a:br/>
            <a:r>
              <a:t>Cloud / mobile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989320"/>
            <a:ext cx="6675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6BEAA"/>
                </a:solidFill>
              </a:defRPr>
            </a:pPr>
            <a:r>
              <a:t>Thank You •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